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9" r:id="rId4"/>
    <p:sldId id="276" r:id="rId5"/>
    <p:sldId id="277" r:id="rId6"/>
    <p:sldId id="263" r:id="rId7"/>
    <p:sldId id="264" r:id="rId8"/>
    <p:sldId id="266" r:id="rId9"/>
    <p:sldId id="267" r:id="rId10"/>
    <p:sldId id="274" r:id="rId11"/>
    <p:sldId id="273" r:id="rId12"/>
    <p:sldId id="272" r:id="rId13"/>
    <p:sldId id="275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F21F-D128-4BEE-B5D5-628DCE9698E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31CF-5FD3-47E3-9518-66AD51A2FE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701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F21F-D128-4BEE-B5D5-628DCE9698E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31CF-5FD3-47E3-9518-66AD51A2FE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328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F21F-D128-4BEE-B5D5-628DCE9698E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31CF-5FD3-47E3-9518-66AD51A2FE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026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F21F-D128-4BEE-B5D5-628DCE9698E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31CF-5FD3-47E3-9518-66AD51A2FE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6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F21F-D128-4BEE-B5D5-628DCE9698E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31CF-5FD3-47E3-9518-66AD51A2FE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36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F21F-D128-4BEE-B5D5-628DCE9698E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31CF-5FD3-47E3-9518-66AD51A2FE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420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F21F-D128-4BEE-B5D5-628DCE9698E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31CF-5FD3-47E3-9518-66AD51A2FE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639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F21F-D128-4BEE-B5D5-628DCE9698E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31CF-5FD3-47E3-9518-66AD51A2FE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357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F21F-D128-4BEE-B5D5-628DCE9698E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31CF-5FD3-47E3-9518-66AD51A2FE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54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F21F-D128-4BEE-B5D5-628DCE9698E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31CF-5FD3-47E3-9518-66AD51A2FE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85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F21F-D128-4BEE-B5D5-628DCE9698E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A31CF-5FD3-47E3-9518-66AD51A2FE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325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FF21F-D128-4BEE-B5D5-628DCE9698EF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A31CF-5FD3-47E3-9518-66AD51A2FE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133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C9492A-D459-300C-AA8E-B0AB223DBEF2}"/>
              </a:ext>
            </a:extLst>
          </p:cNvPr>
          <p:cNvSpPr txBox="1"/>
          <p:nvPr/>
        </p:nvSpPr>
        <p:spPr>
          <a:xfrm>
            <a:off x="8776476" y="4229100"/>
            <a:ext cx="294322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Состав команды:</a:t>
            </a:r>
          </a:p>
          <a:p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Елена Старцева</a:t>
            </a:r>
          </a:p>
          <a:p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Сергей Тимакин </a:t>
            </a:r>
          </a:p>
          <a:p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Константин Стояловский </a:t>
            </a:r>
          </a:p>
          <a:p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Сергей Овсянников </a:t>
            </a:r>
          </a:p>
          <a:p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Михаил Романов (тимлид)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AC88E-6351-DB2E-FC95-CB33FCF111B3}"/>
              </a:ext>
            </a:extLst>
          </p:cNvPr>
          <p:cNvSpPr txBox="1"/>
          <p:nvPr/>
        </p:nvSpPr>
        <p:spPr>
          <a:xfrm>
            <a:off x="728662" y="2343150"/>
            <a:ext cx="1073467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ChemAI: Predict the Cure</a:t>
            </a:r>
          </a:p>
          <a:p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Презентация проекта по учебной практике </a:t>
            </a:r>
          </a:p>
          <a:p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Команда «3_Два Сереги и еще эти трое», группа М25-555</a:t>
            </a:r>
            <a:endParaRPr lang="ru-RU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B41B93-01D2-D6B8-94BD-655B34498B84}"/>
              </a:ext>
            </a:extLst>
          </p:cNvPr>
          <p:cNvSpPr txBox="1"/>
          <p:nvPr/>
        </p:nvSpPr>
        <p:spPr>
          <a:xfrm>
            <a:off x="4138613" y="6334125"/>
            <a:ext cx="391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НИЯУ МИФИ - Яндекс Практикум 2026 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DC56E93-6A97-064B-2882-E2DD00127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524" y="924306"/>
            <a:ext cx="4806950" cy="449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6029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68407-B6D0-40C8-A3B8-B1E81524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E7F11-75D2-38B5-AC68-3EBD79B32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Построить пайплайн обработки данных и модель, способную предсказать эффективность новых соединений на основе имеющихся свойствах молекул и их биологической активности против вируса гриппа.</a:t>
            </a:r>
            <a:endParaRPr lang="en-US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r>
              <a:rPr lang="ru-RU" sz="2200" dirty="0"/>
              <a:t>Для каждого химического соединения необходимо предсказать три целевых показателя:</a:t>
            </a:r>
          </a:p>
          <a:p>
            <a:pPr marL="0" indent="0">
              <a:buNone/>
            </a:pPr>
            <a:r>
              <a:rPr lang="ru-RU" sz="2200" b="1" dirty="0"/>
              <a:t>IC50 (mM) </a:t>
            </a:r>
            <a:r>
              <a:rPr lang="ru-RU" sz="2200" dirty="0"/>
              <a:t>— концентрация, при которой вещество подавляет 50% активности вируса;</a:t>
            </a:r>
          </a:p>
          <a:p>
            <a:pPr marL="0" indent="0">
              <a:buNone/>
            </a:pPr>
            <a:r>
              <a:rPr lang="ru-RU" sz="2200" b="1" dirty="0"/>
              <a:t>CC50 (mM) </a:t>
            </a:r>
            <a:r>
              <a:rPr lang="ru-RU" sz="2200" dirty="0"/>
              <a:t>— концентрация, при которой вещество токсично для 50% клеток;</a:t>
            </a:r>
          </a:p>
          <a:p>
            <a:pPr marL="0" indent="0">
              <a:buNone/>
            </a:pPr>
            <a:r>
              <a:rPr lang="ru-RU" sz="2200" b="1" dirty="0"/>
              <a:t>SI (Selectivity Index</a:t>
            </a:r>
            <a:r>
              <a:rPr lang="ru-RU" sz="2200" dirty="0"/>
              <a:t>) — индекс селективности.</a:t>
            </a:r>
            <a:r>
              <a:rPr lang="en-US" sz="2200" dirty="0"/>
              <a:t>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ru-RU" sz="22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2741C9-D904-68DB-6529-58BCB0F5D363}"/>
              </a:ext>
            </a:extLst>
          </p:cNvPr>
          <p:cNvSpPr/>
          <p:nvPr/>
        </p:nvSpPr>
        <p:spPr>
          <a:xfrm>
            <a:off x="0" y="0"/>
            <a:ext cx="12192000" cy="1429966"/>
          </a:xfrm>
          <a:prstGeom prst="rect">
            <a:avLst/>
          </a:prstGeom>
          <a:gradFill flip="none" rotWithShape="1">
            <a:gsLst>
              <a:gs pos="32000">
                <a:schemeClr val="accent4">
                  <a:lumMod val="40000"/>
                  <a:lumOff val="60000"/>
                  <a:alpha val="0"/>
                </a:schemeClr>
              </a:gs>
              <a:gs pos="8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821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A9913-32C8-A84A-DEDB-86A485EBC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EF86ABC-9491-BA66-DDB3-96000BD05A62}"/>
              </a:ext>
            </a:extLst>
          </p:cNvPr>
          <p:cNvSpPr/>
          <p:nvPr/>
        </p:nvSpPr>
        <p:spPr>
          <a:xfrm>
            <a:off x="3657195" y="4931920"/>
            <a:ext cx="7696606" cy="1429966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FC0168F-E71C-F0B7-25A0-1B9C39E9E3FC}"/>
              </a:ext>
            </a:extLst>
          </p:cNvPr>
          <p:cNvSpPr/>
          <p:nvPr/>
        </p:nvSpPr>
        <p:spPr>
          <a:xfrm>
            <a:off x="0" y="0"/>
            <a:ext cx="12192000" cy="1429966"/>
          </a:xfrm>
          <a:prstGeom prst="rect">
            <a:avLst/>
          </a:prstGeom>
          <a:gradFill flip="none" rotWithShape="1">
            <a:gsLst>
              <a:gs pos="32000">
                <a:schemeClr val="accent4">
                  <a:lumMod val="40000"/>
                  <a:lumOff val="60000"/>
                  <a:alpha val="0"/>
                </a:schemeClr>
              </a:gs>
              <a:gs pos="8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4743A-8F2B-64F1-0505-93155E0A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Исходные данные и метрики соревнования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A779AB3-117C-A958-CC9D-0A24257E0E8C}"/>
              </a:ext>
            </a:extLst>
          </p:cNvPr>
          <p:cNvSpPr/>
          <p:nvPr/>
        </p:nvSpPr>
        <p:spPr>
          <a:xfrm>
            <a:off x="838200" y="1690688"/>
            <a:ext cx="2624847" cy="1429966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6A8398-C7BB-F419-8A8D-F8ED01B9DE46}"/>
              </a:ext>
            </a:extLst>
          </p:cNvPr>
          <p:cNvSpPr txBox="1"/>
          <p:nvPr/>
        </p:nvSpPr>
        <p:spPr>
          <a:xfrm>
            <a:off x="1440504" y="1990172"/>
            <a:ext cx="142023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/>
              <a:t>751</a:t>
            </a:r>
            <a:r>
              <a:rPr lang="en-US" sz="4800" b="1" dirty="0"/>
              <a:t> </a:t>
            </a:r>
          </a:p>
          <a:p>
            <a:pPr algn="ctr"/>
            <a:r>
              <a:rPr lang="ru-RU" sz="2000" dirty="0"/>
              <a:t>объектов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3C5231-B1B7-72BE-6B93-22200641338C}"/>
              </a:ext>
            </a:extLst>
          </p:cNvPr>
          <p:cNvSpPr txBox="1"/>
          <p:nvPr/>
        </p:nvSpPr>
        <p:spPr>
          <a:xfrm>
            <a:off x="1644379" y="1816104"/>
            <a:ext cx="1011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Train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35ADFCD-21E3-AFD5-23C4-7ED209D47B97}"/>
              </a:ext>
            </a:extLst>
          </p:cNvPr>
          <p:cNvSpPr/>
          <p:nvPr/>
        </p:nvSpPr>
        <p:spPr>
          <a:xfrm>
            <a:off x="838200" y="3311304"/>
            <a:ext cx="2624847" cy="1429966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E583A6-92C8-5285-0B72-8837CAADCDB7}"/>
              </a:ext>
            </a:extLst>
          </p:cNvPr>
          <p:cNvSpPr txBox="1"/>
          <p:nvPr/>
        </p:nvSpPr>
        <p:spPr>
          <a:xfrm>
            <a:off x="1440504" y="3465191"/>
            <a:ext cx="142023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/>
              <a:t>210</a:t>
            </a:r>
            <a:r>
              <a:rPr lang="en-US" sz="4800" b="1" dirty="0"/>
              <a:t> </a:t>
            </a:r>
          </a:p>
          <a:p>
            <a:pPr algn="ctr"/>
            <a:r>
              <a:rPr lang="ru-RU" sz="2000" dirty="0"/>
              <a:t>признаков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7DCE3B7-F0BE-7C73-DFC2-C09CFA716B96}"/>
              </a:ext>
            </a:extLst>
          </p:cNvPr>
          <p:cNvSpPr/>
          <p:nvPr/>
        </p:nvSpPr>
        <p:spPr>
          <a:xfrm>
            <a:off x="838200" y="4931920"/>
            <a:ext cx="2624847" cy="1429966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146486-C9A5-930A-47F1-53D79E7B8EFC}"/>
              </a:ext>
            </a:extLst>
          </p:cNvPr>
          <p:cNvSpPr txBox="1"/>
          <p:nvPr/>
        </p:nvSpPr>
        <p:spPr>
          <a:xfrm>
            <a:off x="1021403" y="5077516"/>
            <a:ext cx="230545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/>
              <a:t>3</a:t>
            </a:r>
            <a:r>
              <a:rPr lang="en-US" sz="4800" b="1" dirty="0"/>
              <a:t> </a:t>
            </a:r>
          </a:p>
          <a:p>
            <a:pPr algn="ctr"/>
            <a:r>
              <a:rPr lang="ru-RU" sz="2000" dirty="0"/>
              <a:t>целевых признака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08ACD9F-796F-8D05-17FB-4887F949A5AB}"/>
              </a:ext>
            </a:extLst>
          </p:cNvPr>
          <p:cNvSpPr/>
          <p:nvPr/>
        </p:nvSpPr>
        <p:spPr>
          <a:xfrm>
            <a:off x="3657194" y="1698979"/>
            <a:ext cx="2624847" cy="1429966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61DBE9-7921-E8BC-1432-F4F38DBA4CE0}"/>
              </a:ext>
            </a:extLst>
          </p:cNvPr>
          <p:cNvSpPr txBox="1"/>
          <p:nvPr/>
        </p:nvSpPr>
        <p:spPr>
          <a:xfrm>
            <a:off x="4259498" y="1998463"/>
            <a:ext cx="142023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250 </a:t>
            </a:r>
          </a:p>
          <a:p>
            <a:pPr algn="ctr"/>
            <a:r>
              <a:rPr lang="ru-RU" sz="2000" dirty="0"/>
              <a:t>объектов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EF50FF-D4F9-288E-D121-E7683AA8D0BD}"/>
              </a:ext>
            </a:extLst>
          </p:cNvPr>
          <p:cNvSpPr txBox="1"/>
          <p:nvPr/>
        </p:nvSpPr>
        <p:spPr>
          <a:xfrm>
            <a:off x="4463373" y="1816104"/>
            <a:ext cx="1011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Test</a:t>
            </a:r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188E58B-1C87-60C2-74A9-5E6D545B9CAA}"/>
              </a:ext>
            </a:extLst>
          </p:cNvPr>
          <p:cNvSpPr/>
          <p:nvPr/>
        </p:nvSpPr>
        <p:spPr>
          <a:xfrm>
            <a:off x="3657194" y="3319595"/>
            <a:ext cx="2624847" cy="1429966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5736E5-F14C-E0D2-CCF3-789F188A811A}"/>
              </a:ext>
            </a:extLst>
          </p:cNvPr>
          <p:cNvSpPr txBox="1"/>
          <p:nvPr/>
        </p:nvSpPr>
        <p:spPr>
          <a:xfrm>
            <a:off x="4259092" y="3456900"/>
            <a:ext cx="142023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dirty="0"/>
              <a:t>210</a:t>
            </a:r>
            <a:r>
              <a:rPr lang="en-US" sz="4800" b="1" dirty="0"/>
              <a:t> </a:t>
            </a:r>
          </a:p>
          <a:p>
            <a:pPr algn="ctr"/>
            <a:r>
              <a:rPr lang="ru-RU" sz="2000" dirty="0"/>
              <a:t>признаков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9903B72-5977-8795-39DF-1995B8DA79A5}"/>
                  </a:ext>
                </a:extLst>
              </p:cNvPr>
              <p:cNvSpPr txBox="1"/>
              <p:nvPr/>
            </p:nvSpPr>
            <p:spPr>
              <a:xfrm>
                <a:off x="4017523" y="5159021"/>
                <a:ext cx="7153074" cy="809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𝐬𝐜𝐨𝐫𝐞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𝐑𝐌𝐒𝐄</m:t>
                          </m:r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𝐈𝐂𝟓𝟎</m:t>
                              </m:r>
                            </m:e>
                          </m:d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𝐑𝐌𝐒𝐄</m:t>
                          </m:r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𝐂𝐂𝟓𝟎</m:t>
                              </m:r>
                            </m:e>
                          </m:d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𝐑𝐌𝐒𝐄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𝐒𝐈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ru-RU" sz="24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9903B72-5977-8795-39DF-1995B8DA7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7523" y="5159021"/>
                <a:ext cx="7153074" cy="8090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EF6D0FBB-8188-13AC-CDB3-2B55048E71C6}"/>
              </a:ext>
            </a:extLst>
          </p:cNvPr>
          <p:cNvSpPr/>
          <p:nvPr/>
        </p:nvSpPr>
        <p:spPr>
          <a:xfrm>
            <a:off x="6546715" y="1698979"/>
            <a:ext cx="4807085" cy="3058873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6A6BAD-86D7-64BB-5B8F-805FFB53BE1C}"/>
              </a:ext>
            </a:extLst>
          </p:cNvPr>
          <p:cNvSpPr txBox="1"/>
          <p:nvPr/>
        </p:nvSpPr>
        <p:spPr>
          <a:xfrm>
            <a:off x="8352410" y="1816104"/>
            <a:ext cx="1195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Метрика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449408-615E-5914-FC38-8102720091BB}"/>
              </a:ext>
            </a:extLst>
          </p:cNvPr>
          <p:cNvSpPr txBox="1"/>
          <p:nvPr/>
        </p:nvSpPr>
        <p:spPr>
          <a:xfrm>
            <a:off x="6760723" y="2405671"/>
            <a:ext cx="43288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17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</a:t>
            </a:r>
            <a:r>
              <a:rPr lang="en-US" sz="2400" dirty="0">
                <a:solidFill>
                  <a:srgbClr val="17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редний RMSE по трем показателям</a:t>
            </a:r>
            <a:r>
              <a:rPr lang="ru-RU" sz="2400" dirty="0">
                <a:solidFill>
                  <a:srgbClr val="17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</a:t>
            </a:r>
            <a:r>
              <a:rPr lang="en-US" sz="2400" dirty="0">
                <a:solidFill>
                  <a:srgbClr val="17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IC50/CC50/SI).</a:t>
            </a:r>
          </a:p>
          <a:p>
            <a:pPr algn="ctr"/>
            <a:endParaRPr lang="en-US" sz="2400" dirty="0">
              <a:solidFill>
                <a:srgbClr val="17213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algn="ctr"/>
            <a:r>
              <a:rPr lang="en-US" sz="2400" dirty="0">
                <a:solidFill>
                  <a:srgbClr val="17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Чем меньше значение, тем лучше результат на лидерборде</a:t>
            </a:r>
            <a:r>
              <a:rPr lang="ru-RU" sz="2400" dirty="0">
                <a:solidFill>
                  <a:srgbClr val="17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в </a:t>
            </a:r>
            <a:r>
              <a:rPr lang="en-US" sz="2400" dirty="0">
                <a:solidFill>
                  <a:srgbClr val="17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Kaggle.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22305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DC947-C805-3F66-AC20-CB1957933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CC5B7-04B5-7EA5-2899-CDCFF124C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Первичный аудит данных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165C72B-99C3-548C-E214-988B9D684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2756" y="3073968"/>
            <a:ext cx="2212817" cy="222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ED4E19A-4BD9-4D2F-F089-03C8051ED52A}"/>
              </a:ext>
            </a:extLst>
          </p:cNvPr>
          <p:cNvSpPr/>
          <p:nvPr/>
        </p:nvSpPr>
        <p:spPr>
          <a:xfrm>
            <a:off x="0" y="0"/>
            <a:ext cx="12192000" cy="1429966"/>
          </a:xfrm>
          <a:prstGeom prst="rect">
            <a:avLst/>
          </a:prstGeom>
          <a:gradFill flip="none" rotWithShape="1">
            <a:gsLst>
              <a:gs pos="32000">
                <a:schemeClr val="accent4">
                  <a:lumMod val="40000"/>
                  <a:lumOff val="60000"/>
                  <a:alpha val="0"/>
                </a:schemeClr>
              </a:gs>
              <a:gs pos="8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58876447-7665-490D-2EC6-60C62C00F449}"/>
              </a:ext>
            </a:extLst>
          </p:cNvPr>
          <p:cNvGrpSpPr/>
          <p:nvPr/>
        </p:nvGrpSpPr>
        <p:grpSpPr>
          <a:xfrm>
            <a:off x="963035" y="2237356"/>
            <a:ext cx="2558375" cy="1648838"/>
            <a:chOff x="963038" y="2237356"/>
            <a:chExt cx="2558375" cy="164883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147C904-6B5C-F4B0-EC96-82407850E039}"/>
                </a:ext>
              </a:extLst>
            </p:cNvPr>
            <p:cNvSpPr txBox="1"/>
            <p:nvPr/>
          </p:nvSpPr>
          <p:spPr>
            <a:xfrm>
              <a:off x="963038" y="2237356"/>
              <a:ext cx="2558375" cy="1648838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endParaRPr lang="ru-RU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D72D064-C4B0-9AFB-AE2E-CB153DA0292D}"/>
                </a:ext>
              </a:extLst>
            </p:cNvPr>
            <p:cNvSpPr txBox="1"/>
            <p:nvPr/>
          </p:nvSpPr>
          <p:spPr>
            <a:xfrm>
              <a:off x="1663225" y="2283604"/>
              <a:ext cx="11579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Пропуски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9A7A843-D2EF-0F0E-4953-B248A74F97E3}"/>
                </a:ext>
              </a:extLst>
            </p:cNvPr>
            <p:cNvSpPr txBox="1"/>
            <p:nvPr/>
          </p:nvSpPr>
          <p:spPr>
            <a:xfrm>
              <a:off x="1354474" y="2697673"/>
              <a:ext cx="1775501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800" b="1" dirty="0"/>
                <a:t>24/12</a:t>
              </a:r>
              <a:r>
                <a:rPr lang="en-US" sz="4800" b="1" dirty="0"/>
                <a:t> </a:t>
              </a:r>
            </a:p>
            <a:p>
              <a:pPr algn="ctr"/>
              <a:r>
                <a:rPr lang="en-US" sz="2000" dirty="0"/>
                <a:t>train/test </a:t>
              </a:r>
              <a:endParaRPr lang="ru-RU" sz="2000" dirty="0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BCC483C0-E972-4486-9F2E-C08F32FB2FA7}"/>
              </a:ext>
            </a:extLst>
          </p:cNvPr>
          <p:cNvGrpSpPr/>
          <p:nvPr/>
        </p:nvGrpSpPr>
        <p:grpSpPr>
          <a:xfrm>
            <a:off x="3765250" y="2237356"/>
            <a:ext cx="2558376" cy="1648838"/>
            <a:chOff x="3732177" y="2239848"/>
            <a:chExt cx="2558376" cy="164883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7FF5A7A-BC36-3A48-E233-37F2FA9A2B51}"/>
                </a:ext>
              </a:extLst>
            </p:cNvPr>
            <p:cNvSpPr txBox="1"/>
            <p:nvPr/>
          </p:nvSpPr>
          <p:spPr>
            <a:xfrm>
              <a:off x="3732178" y="2239848"/>
              <a:ext cx="2558375" cy="1648838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endParaRPr lang="ru-RU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67C90F-5A40-A49C-7CEB-52532109F20E}"/>
                </a:ext>
              </a:extLst>
            </p:cNvPr>
            <p:cNvSpPr txBox="1"/>
            <p:nvPr/>
          </p:nvSpPr>
          <p:spPr>
            <a:xfrm>
              <a:off x="3732177" y="2286096"/>
              <a:ext cx="25583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Константные признаки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3CFFC6-E305-BBFD-4D82-F043A4CC7436}"/>
                </a:ext>
              </a:extLst>
            </p:cNvPr>
            <p:cNvSpPr txBox="1"/>
            <p:nvPr/>
          </p:nvSpPr>
          <p:spPr>
            <a:xfrm>
              <a:off x="4123614" y="2700165"/>
              <a:ext cx="17755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800" b="1" dirty="0"/>
                <a:t>18</a:t>
              </a:r>
              <a:r>
                <a:rPr lang="en-US" sz="4800" b="1" dirty="0"/>
                <a:t> </a:t>
              </a:r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F4597CEA-01E0-59DC-CFD7-E59896E1F523}"/>
              </a:ext>
            </a:extLst>
          </p:cNvPr>
          <p:cNvGrpSpPr/>
          <p:nvPr/>
        </p:nvGrpSpPr>
        <p:grpSpPr>
          <a:xfrm>
            <a:off x="6567467" y="2237356"/>
            <a:ext cx="2558377" cy="1648838"/>
            <a:chOff x="6567467" y="2237356"/>
            <a:chExt cx="2558377" cy="164883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95A64B8-BAA4-AF14-3CDA-78D6861E4543}"/>
                </a:ext>
              </a:extLst>
            </p:cNvPr>
            <p:cNvSpPr txBox="1"/>
            <p:nvPr/>
          </p:nvSpPr>
          <p:spPr>
            <a:xfrm>
              <a:off x="6567469" y="2237356"/>
              <a:ext cx="2558375" cy="1648838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endParaRPr lang="ru-RU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77FA66-4B69-DBB0-52A6-5E12AFD40D70}"/>
                </a:ext>
              </a:extLst>
            </p:cNvPr>
            <p:cNvSpPr txBox="1"/>
            <p:nvPr/>
          </p:nvSpPr>
          <p:spPr>
            <a:xfrm>
              <a:off x="6567467" y="2283604"/>
              <a:ext cx="25583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Группы дублей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D8969E6-00F3-9146-E643-4BA201AD7A81}"/>
                </a:ext>
              </a:extLst>
            </p:cNvPr>
            <p:cNvSpPr txBox="1"/>
            <p:nvPr/>
          </p:nvSpPr>
          <p:spPr>
            <a:xfrm>
              <a:off x="6567467" y="2700165"/>
              <a:ext cx="255837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800" b="1" dirty="0"/>
                <a:t>60</a:t>
              </a:r>
            </a:p>
            <a:p>
              <a:pPr algn="ctr"/>
              <a:r>
                <a:rPr lang="ru-RU" dirty="0"/>
                <a:t>53 с разными таргетами</a:t>
              </a:r>
              <a:r>
                <a:rPr lang="en-US" b="1" dirty="0"/>
                <a:t> </a:t>
              </a: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AA502C6E-AD47-6497-E9FA-4211D53F01B6}"/>
              </a:ext>
            </a:extLst>
          </p:cNvPr>
          <p:cNvGrpSpPr/>
          <p:nvPr/>
        </p:nvGrpSpPr>
        <p:grpSpPr>
          <a:xfrm>
            <a:off x="963035" y="4041330"/>
            <a:ext cx="2578680" cy="1655416"/>
            <a:chOff x="963035" y="4041330"/>
            <a:chExt cx="2578680" cy="165541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640DD7F-3B8E-32D3-320D-EE0CDCC5752E}"/>
                </a:ext>
              </a:extLst>
            </p:cNvPr>
            <p:cNvSpPr txBox="1"/>
            <p:nvPr/>
          </p:nvSpPr>
          <p:spPr>
            <a:xfrm>
              <a:off x="963035" y="4041330"/>
              <a:ext cx="2558375" cy="1648838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endParaRPr lang="ru-RU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D211E31-278E-0DC5-7D54-B33A5F4AEAF0}"/>
                </a:ext>
              </a:extLst>
            </p:cNvPr>
            <p:cNvSpPr txBox="1"/>
            <p:nvPr/>
          </p:nvSpPr>
          <p:spPr>
            <a:xfrm>
              <a:off x="983340" y="4311751"/>
              <a:ext cx="255837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800" b="1" dirty="0"/>
                <a:t>159</a:t>
              </a:r>
              <a:r>
                <a:rPr lang="en-US" sz="4800" b="1" dirty="0"/>
                <a:t> </a:t>
              </a:r>
            </a:p>
            <a:p>
              <a:pPr algn="ctr"/>
              <a:r>
                <a:rPr lang="ru-RU" dirty="0"/>
                <a:t>пар одинаковых признаков</a:t>
              </a:r>
            </a:p>
          </p:txBody>
        </p: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1879997-0694-0D38-92D5-72693915AFA6}"/>
              </a:ext>
            </a:extLst>
          </p:cNvPr>
          <p:cNvGrpSpPr/>
          <p:nvPr/>
        </p:nvGrpSpPr>
        <p:grpSpPr>
          <a:xfrm>
            <a:off x="3755199" y="4041330"/>
            <a:ext cx="2558375" cy="1648838"/>
            <a:chOff x="3732177" y="4041330"/>
            <a:chExt cx="2558375" cy="164883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DCF7C9A-0BC5-024E-71ED-0ACB333E990E}"/>
                </a:ext>
              </a:extLst>
            </p:cNvPr>
            <p:cNvSpPr txBox="1"/>
            <p:nvPr/>
          </p:nvSpPr>
          <p:spPr>
            <a:xfrm>
              <a:off x="3732178" y="4041330"/>
              <a:ext cx="2558374" cy="1648838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endParaRPr lang="ru-RU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982980B-3A72-4134-091B-13A6714B3FB4}"/>
                </a:ext>
              </a:extLst>
            </p:cNvPr>
            <p:cNvSpPr txBox="1"/>
            <p:nvPr/>
          </p:nvSpPr>
          <p:spPr>
            <a:xfrm>
              <a:off x="3732177" y="4498229"/>
              <a:ext cx="25583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Целевые показатели имеют разный масштаб</a:t>
              </a:r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2A4AF67B-B36A-7D66-07B5-0E45FB1E1B1A}"/>
              </a:ext>
            </a:extLst>
          </p:cNvPr>
          <p:cNvGrpSpPr/>
          <p:nvPr/>
        </p:nvGrpSpPr>
        <p:grpSpPr>
          <a:xfrm>
            <a:off x="6547363" y="4041330"/>
            <a:ext cx="2578481" cy="1648838"/>
            <a:chOff x="6547356" y="4031477"/>
            <a:chExt cx="2578481" cy="164883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94F1434-34DB-93FB-5731-576B6534CD4E}"/>
                </a:ext>
              </a:extLst>
            </p:cNvPr>
            <p:cNvSpPr txBox="1"/>
            <p:nvPr/>
          </p:nvSpPr>
          <p:spPr>
            <a:xfrm>
              <a:off x="6567463" y="4031477"/>
              <a:ext cx="2558374" cy="1648838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</p:spPr>
          <p:txBody>
            <a:bodyPr wrap="square" rtlCol="0">
              <a:spAutoFit/>
            </a:bodyPr>
            <a:lstStyle/>
            <a:p>
              <a:endParaRPr lang="ru-RU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59B86A1-77AB-5FB3-537D-2470087BCB65}"/>
                </a:ext>
              </a:extLst>
            </p:cNvPr>
            <p:cNvSpPr txBox="1"/>
            <p:nvPr/>
          </p:nvSpPr>
          <p:spPr>
            <a:xfrm>
              <a:off x="6547356" y="4249057"/>
              <a:ext cx="255837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SI – </a:t>
              </a:r>
              <a:r>
                <a:rPr lang="ru-RU" dirty="0"/>
                <a:t>самый ассиметричный целевой показатель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3F90CB5-AEB7-2310-741A-F645E8526735}"/>
                </a:ext>
              </a:extLst>
            </p:cNvPr>
            <p:cNvSpPr txBox="1"/>
            <p:nvPr/>
          </p:nvSpPr>
          <p:spPr>
            <a:xfrm>
              <a:off x="6567463" y="5366899"/>
              <a:ext cx="25382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skew 15,6 | kurtosis 271,6 | max 15 620</a:t>
              </a:r>
              <a:endParaRPr lang="ru-RU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1238008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BEEF6-A75F-071C-CECF-8DAAD1212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F0B1F-3401-1F72-6DF7-B80AFB81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Локальная валидация данных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5F3AC3F-D876-2869-B07C-84CE137F9172}"/>
              </a:ext>
            </a:extLst>
          </p:cNvPr>
          <p:cNvSpPr/>
          <p:nvPr/>
        </p:nvSpPr>
        <p:spPr>
          <a:xfrm>
            <a:off x="0" y="0"/>
            <a:ext cx="12192000" cy="1429966"/>
          </a:xfrm>
          <a:prstGeom prst="rect">
            <a:avLst/>
          </a:prstGeom>
          <a:gradFill flip="none" rotWithShape="1">
            <a:gsLst>
              <a:gs pos="32000">
                <a:schemeClr val="accent4">
                  <a:lumMod val="40000"/>
                  <a:lumOff val="60000"/>
                  <a:alpha val="0"/>
                </a:schemeClr>
              </a:gs>
              <a:gs pos="8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8DBC87D-5E52-FDFF-59B0-B178D1FB7FF1}"/>
              </a:ext>
            </a:extLst>
          </p:cNvPr>
          <p:cNvGrpSpPr/>
          <p:nvPr/>
        </p:nvGrpSpPr>
        <p:grpSpPr>
          <a:xfrm>
            <a:off x="838200" y="1998463"/>
            <a:ext cx="3515231" cy="2125862"/>
            <a:chOff x="838200" y="1998463"/>
            <a:chExt cx="3515231" cy="2125862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D2678E42-FDED-708E-28A9-B83DCBE7007B}"/>
                </a:ext>
              </a:extLst>
            </p:cNvPr>
            <p:cNvSpPr/>
            <p:nvPr/>
          </p:nvSpPr>
          <p:spPr>
            <a:xfrm>
              <a:off x="838200" y="1998463"/>
              <a:ext cx="3514725" cy="2125862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D3E257-644B-70A9-1178-CD36ADE0C1A3}"/>
                </a:ext>
              </a:extLst>
            </p:cNvPr>
            <p:cNvSpPr txBox="1"/>
            <p:nvPr/>
          </p:nvSpPr>
          <p:spPr>
            <a:xfrm>
              <a:off x="905381" y="2699028"/>
              <a:ext cx="344805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/>
                <a:t>RMSE 599.86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DC9C8A-0AE9-E83E-3E9E-E386C379887E}"/>
                </a:ext>
              </a:extLst>
            </p:cNvPr>
            <p:cNvSpPr txBox="1"/>
            <p:nvPr/>
          </p:nvSpPr>
          <p:spPr>
            <a:xfrm>
              <a:off x="1009651" y="2112963"/>
              <a:ext cx="3190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Наивный прогноз (среднее)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D6189F-B197-5B66-590E-CF0CE874E64D}"/>
                </a:ext>
              </a:extLst>
            </p:cNvPr>
            <p:cNvSpPr txBox="1"/>
            <p:nvPr/>
          </p:nvSpPr>
          <p:spPr>
            <a:xfrm>
              <a:off x="838200" y="3794981"/>
              <a:ext cx="35147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ru-RU" sz="1200" dirty="0"/>
                <a:t>IC50: 370.12 | CC50: 641.09 | SI: 788.36</a:t>
              </a:r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6A221888-D511-1B13-58CE-09FE1B5E082A}"/>
              </a:ext>
            </a:extLst>
          </p:cNvPr>
          <p:cNvGrpSpPr/>
          <p:nvPr/>
        </p:nvGrpSpPr>
        <p:grpSpPr>
          <a:xfrm>
            <a:off x="4590797" y="1998463"/>
            <a:ext cx="3515231" cy="2125862"/>
            <a:chOff x="4733419" y="1998463"/>
            <a:chExt cx="3515231" cy="2125862"/>
          </a:xfrm>
        </p:grpSpPr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BEC65B47-3207-421B-24A2-DDAC5FC2CB59}"/>
                </a:ext>
              </a:extLst>
            </p:cNvPr>
            <p:cNvSpPr/>
            <p:nvPr/>
          </p:nvSpPr>
          <p:spPr>
            <a:xfrm>
              <a:off x="4733925" y="1998463"/>
              <a:ext cx="3514725" cy="2125862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B3C1C2C-CA3E-07F2-8686-02EA3C6DDF51}"/>
                </a:ext>
              </a:extLst>
            </p:cNvPr>
            <p:cNvSpPr txBox="1"/>
            <p:nvPr/>
          </p:nvSpPr>
          <p:spPr>
            <a:xfrm>
              <a:off x="4895850" y="2112780"/>
              <a:ext cx="31908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Уникальных групп признаков </a:t>
              </a:r>
            </a:p>
            <a:p>
              <a:pPr algn="ctr"/>
              <a:r>
                <a:rPr lang="ru-RU" dirty="0"/>
                <a:t>в </a:t>
              </a:r>
              <a:r>
                <a:rPr lang="en-US" dirty="0"/>
                <a:t>train</a:t>
              </a:r>
              <a:r>
                <a:rPr lang="ru-RU" dirty="0"/>
                <a:t>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6BFA3F0-6AE4-1BCD-D561-D02428C73393}"/>
                </a:ext>
              </a:extLst>
            </p:cNvPr>
            <p:cNvSpPr txBox="1"/>
            <p:nvPr/>
          </p:nvSpPr>
          <p:spPr>
            <a:xfrm>
              <a:off x="4733419" y="2682165"/>
              <a:ext cx="344805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/>
                <a:t>630 </a:t>
              </a:r>
              <a:r>
                <a:rPr lang="ru-RU" sz="4400" b="1" dirty="0"/>
                <a:t>из 751</a:t>
              </a:r>
              <a:endParaRPr lang="en-US" sz="4400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3A4199B-AD09-77DD-0F57-0A04C8E1F364}"/>
                </a:ext>
              </a:extLst>
            </p:cNvPr>
            <p:cNvSpPr txBox="1"/>
            <p:nvPr/>
          </p:nvSpPr>
          <p:spPr>
            <a:xfrm>
              <a:off x="5895974" y="3786407"/>
              <a:ext cx="11906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200" dirty="0"/>
                <a:t>121 дубль</a:t>
              </a: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7951C0BF-7383-374C-296C-92B9B977FCA6}"/>
              </a:ext>
            </a:extLst>
          </p:cNvPr>
          <p:cNvGrpSpPr/>
          <p:nvPr/>
        </p:nvGrpSpPr>
        <p:grpSpPr>
          <a:xfrm>
            <a:off x="8343394" y="1981517"/>
            <a:ext cx="3515231" cy="2125862"/>
            <a:chOff x="8343394" y="1981517"/>
            <a:chExt cx="3515231" cy="2125862"/>
          </a:xfrm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63C6B214-3542-0FFB-CA17-5952623F0CD8}"/>
                </a:ext>
              </a:extLst>
            </p:cNvPr>
            <p:cNvSpPr/>
            <p:nvPr/>
          </p:nvSpPr>
          <p:spPr>
            <a:xfrm>
              <a:off x="8343394" y="1981517"/>
              <a:ext cx="3514725" cy="2125862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0E521AA-57C2-A962-F7C0-AF6E32945C8C}"/>
                </a:ext>
              </a:extLst>
            </p:cNvPr>
            <p:cNvSpPr txBox="1"/>
            <p:nvPr/>
          </p:nvSpPr>
          <p:spPr>
            <a:xfrm>
              <a:off x="8514845" y="2164080"/>
              <a:ext cx="31908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Совпадающие векторы признаков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B738EE8-9D3D-444E-3BBD-2F899F77B9E0}"/>
                </a:ext>
              </a:extLst>
            </p:cNvPr>
            <p:cNvSpPr txBox="1"/>
            <p:nvPr/>
          </p:nvSpPr>
          <p:spPr>
            <a:xfrm>
              <a:off x="8410575" y="2715974"/>
              <a:ext cx="344805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/>
                <a:t>124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ABE0E0E-A354-AC10-2924-CB5CBFF7606C}"/>
                </a:ext>
              </a:extLst>
            </p:cNvPr>
            <p:cNvSpPr txBox="1"/>
            <p:nvPr/>
          </p:nvSpPr>
          <p:spPr>
            <a:xfrm>
              <a:off x="9505443" y="3759298"/>
              <a:ext cx="11906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train-</a:t>
              </a:r>
              <a:r>
                <a:rPr lang="ru-RU" sz="1200" dirty="0"/>
                <a:t>строки</a:t>
              </a:r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17698F11-1B81-9621-C55F-2F4257F5A771}"/>
              </a:ext>
            </a:extLst>
          </p:cNvPr>
          <p:cNvGrpSpPr/>
          <p:nvPr/>
        </p:nvGrpSpPr>
        <p:grpSpPr>
          <a:xfrm>
            <a:off x="2714625" y="4943473"/>
            <a:ext cx="3514725" cy="1315550"/>
            <a:chOff x="2714625" y="4552948"/>
            <a:chExt cx="3514725" cy="1315550"/>
          </a:xfrm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0FC7B836-4451-041C-4678-18FC64140EE8}"/>
                </a:ext>
              </a:extLst>
            </p:cNvPr>
            <p:cNvSpPr/>
            <p:nvPr/>
          </p:nvSpPr>
          <p:spPr>
            <a:xfrm>
              <a:off x="2714625" y="4552948"/>
              <a:ext cx="3514725" cy="1315550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6F92CB4-746D-494C-DCB3-ABCBBF55788F}"/>
                </a:ext>
              </a:extLst>
            </p:cNvPr>
            <p:cNvSpPr txBox="1"/>
            <p:nvPr/>
          </p:nvSpPr>
          <p:spPr>
            <a:xfrm>
              <a:off x="4076826" y="4703723"/>
              <a:ext cx="790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KFold</a:t>
              </a:r>
              <a:endParaRPr lang="ru-RU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F4CCE1F-AD34-A1A6-B2E1-48391F5D6211}"/>
                </a:ext>
              </a:extLst>
            </p:cNvPr>
            <p:cNvSpPr txBox="1"/>
            <p:nvPr/>
          </p:nvSpPr>
          <p:spPr>
            <a:xfrm>
              <a:off x="2962275" y="5063042"/>
              <a:ext cx="30575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721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Быстрый ориентир для идей, но может допускать пересечение похожих объектов между folds.</a:t>
              </a:r>
              <a:endParaRPr lang="en-US" sz="1200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112E5A24-4AC9-F149-42C9-9B5161AB460E}"/>
              </a:ext>
            </a:extLst>
          </p:cNvPr>
          <p:cNvGrpSpPr/>
          <p:nvPr/>
        </p:nvGrpSpPr>
        <p:grpSpPr>
          <a:xfrm>
            <a:off x="6586030" y="4953486"/>
            <a:ext cx="3514725" cy="1315550"/>
            <a:chOff x="6586030" y="4562961"/>
            <a:chExt cx="3514725" cy="1315550"/>
          </a:xfrm>
        </p:grpSpPr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43FC75E4-F725-1DF2-6357-1FF012D92B54}"/>
                </a:ext>
              </a:extLst>
            </p:cNvPr>
            <p:cNvSpPr/>
            <p:nvPr/>
          </p:nvSpPr>
          <p:spPr>
            <a:xfrm>
              <a:off x="6586030" y="4562961"/>
              <a:ext cx="3514725" cy="1315550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597A06E-D00E-BEA6-E317-6BC2308C8BFC}"/>
                </a:ext>
              </a:extLst>
            </p:cNvPr>
            <p:cNvSpPr txBox="1"/>
            <p:nvPr/>
          </p:nvSpPr>
          <p:spPr>
            <a:xfrm>
              <a:off x="7674578" y="4693710"/>
              <a:ext cx="13376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GroupKFold</a:t>
              </a:r>
              <a:endParaRPr lang="ru-RU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15C3A56-45F9-2370-3B97-64E16B6D150E}"/>
                </a:ext>
              </a:extLst>
            </p:cNvPr>
            <p:cNvSpPr txBox="1"/>
            <p:nvPr/>
          </p:nvSpPr>
          <p:spPr>
            <a:xfrm>
              <a:off x="6814629" y="5087167"/>
              <a:ext cx="30575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200" dirty="0">
                  <a:solidFill>
                    <a:srgbClr val="1721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Строгая проверка: одинаковые группы признаков  не попадают одновременно в обучающую и валидационную выборки.</a:t>
              </a:r>
            </a:p>
          </p:txBody>
        </p:sp>
      </p:grpSp>
      <p:sp>
        <p:nvSpPr>
          <p:cNvPr id="36" name="Стрелка: вправо 35">
            <a:extLst>
              <a:ext uri="{FF2B5EF4-FFF2-40B4-BE49-F238E27FC236}">
                <a16:creationId xmlns:a16="http://schemas.microsoft.com/office/drawing/2014/main" id="{DBEB1299-FD5B-2816-188A-2A56558D0BBB}"/>
              </a:ext>
            </a:extLst>
          </p:cNvPr>
          <p:cNvSpPr/>
          <p:nvPr/>
        </p:nvSpPr>
        <p:spPr>
          <a:xfrm>
            <a:off x="6353175" y="5463580"/>
            <a:ext cx="123825" cy="2804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F49BA4-42DF-2AD8-58F9-856C16CCDC6E}"/>
              </a:ext>
            </a:extLst>
          </p:cNvPr>
          <p:cNvSpPr txBox="1"/>
          <p:nvPr/>
        </p:nvSpPr>
        <p:spPr>
          <a:xfrm>
            <a:off x="5298028" y="4496704"/>
            <a:ext cx="203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Схема валидации</a:t>
            </a:r>
          </a:p>
        </p:txBody>
      </p:sp>
    </p:spTree>
    <p:extLst>
      <p:ext uri="{BB962C8B-B14F-4D97-AF65-F5344CB8AC3E}">
        <p14:creationId xmlns:p14="http://schemas.microsoft.com/office/powerpoint/2010/main" val="2028780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55669-B380-A173-5FF1-DD3D694A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1BBF6-A7DB-DB93-4BEF-94FD6FDB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Базовое моделирование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EDDDDE-710A-6ADA-8C43-A8F8DBE16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Лучшая базовая модель: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en-US" dirty="0"/>
              <a:t>ExtraTreesRegressor (GroupKFold)</a:t>
            </a:r>
          </a:p>
          <a:p>
            <a:pPr marL="0" indent="0">
              <a:buNone/>
            </a:pPr>
            <a:r>
              <a:rPr lang="ru-RU" dirty="0"/>
              <a:t>Средний </a:t>
            </a:r>
            <a:r>
              <a:rPr lang="en-US" dirty="0"/>
              <a:t>RMSE = </a:t>
            </a:r>
            <a:r>
              <a:rPr lang="en-US" b="1" dirty="0"/>
              <a:t>522.31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IC50: 347.16 | CC50: 459.00 | SI: 760.79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963A01A-9E82-C506-0DC0-AA7A3D626D43}"/>
              </a:ext>
            </a:extLst>
          </p:cNvPr>
          <p:cNvSpPr/>
          <p:nvPr/>
        </p:nvSpPr>
        <p:spPr>
          <a:xfrm>
            <a:off x="0" y="0"/>
            <a:ext cx="12192000" cy="1429966"/>
          </a:xfrm>
          <a:prstGeom prst="rect">
            <a:avLst/>
          </a:prstGeom>
          <a:gradFill flip="none" rotWithShape="1">
            <a:gsLst>
              <a:gs pos="32000">
                <a:schemeClr val="accent4">
                  <a:lumMod val="40000"/>
                  <a:lumOff val="60000"/>
                  <a:alpha val="0"/>
                </a:schemeClr>
              </a:gs>
              <a:gs pos="8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5100378A-4EEB-8512-FE4D-063D75156218}"/>
              </a:ext>
            </a:extLst>
          </p:cNvPr>
          <p:cNvGrpSpPr/>
          <p:nvPr/>
        </p:nvGrpSpPr>
        <p:grpSpPr>
          <a:xfrm>
            <a:off x="8813260" y="4640094"/>
            <a:ext cx="3161489" cy="1974715"/>
            <a:chOff x="8813260" y="4640094"/>
            <a:chExt cx="3161489" cy="1974715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F474C658-E84F-2E36-C80B-E2D902FA14D5}"/>
                </a:ext>
              </a:extLst>
            </p:cNvPr>
            <p:cNvSpPr/>
            <p:nvPr/>
          </p:nvSpPr>
          <p:spPr>
            <a:xfrm>
              <a:off x="8813260" y="4640094"/>
              <a:ext cx="3161489" cy="1974715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8B29FA-4F56-C2FE-BC7B-E1BE1046E7A5}"/>
                </a:ext>
              </a:extLst>
            </p:cNvPr>
            <p:cNvSpPr txBox="1"/>
            <p:nvPr/>
          </p:nvSpPr>
          <p:spPr>
            <a:xfrm>
              <a:off x="9109953" y="4995629"/>
              <a:ext cx="256810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362.84</a:t>
              </a:r>
              <a:endParaRPr lang="ru-RU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FE0FDC-8A26-4017-301E-E8016A108784}"/>
                </a:ext>
              </a:extLst>
            </p:cNvPr>
            <p:cNvSpPr txBox="1"/>
            <p:nvPr/>
          </p:nvSpPr>
          <p:spPr>
            <a:xfrm>
              <a:off x="9338553" y="6176963"/>
              <a:ext cx="2188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результат на </a:t>
              </a:r>
              <a:r>
                <a:rPr lang="en-US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Kaggle</a:t>
              </a:r>
              <a:endPara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95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931E6-6334-15CB-BE27-605B3ED96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EF05D6-B751-4AF3-B178-9F094F6FF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Первая сильная ветка</a:t>
            </a:r>
            <a:r>
              <a:rPr lang="en-US" dirty="0"/>
              <a:t> (Hybrid-best)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C7B8CF-3548-B06C-3DCB-A838AEB15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18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Что сделали:</a:t>
            </a:r>
            <a:endParaRPr lang="ru-RU" sz="2200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sz="2200" dirty="0"/>
              <a:t>Ограничение выбросов для SI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200" dirty="0"/>
              <a:t>Отбор признаков по корреляции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200" dirty="0"/>
              <a:t>Смешивание предсказаний под каждый целевой показатель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200" dirty="0"/>
              <a:t>Использование агрегации дубликатов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200" dirty="0"/>
              <a:t>KNN-сигнал для SI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200" dirty="0"/>
              <a:t>Объединение двух конвейеров через мета-</a:t>
            </a:r>
            <a:r>
              <a:rPr lang="ru-RU" sz="2200" dirty="0" err="1"/>
              <a:t>блендинг</a:t>
            </a:r>
            <a:endParaRPr lang="ru-RU" sz="2200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sz="2200" dirty="0"/>
              <a:t>Калиброванное отношение IC50/CC50</a:t>
            </a:r>
          </a:p>
          <a:p>
            <a:pPr>
              <a:buFont typeface="Wingdings" panose="05000000000000000000" pitchFamily="2" charset="2"/>
              <a:buChar char="ü"/>
            </a:pPr>
            <a:endParaRPr lang="ru-RU" sz="2200" dirty="0"/>
          </a:p>
          <a:p>
            <a:pPr marL="0" indent="0">
              <a:buNone/>
            </a:pPr>
            <a:r>
              <a:rPr lang="ru-RU" sz="2600" dirty="0">
                <a:solidFill>
                  <a:srgbClr val="FF0000"/>
                </a:solidFill>
              </a:rPr>
              <a:t>Первый крупный скачок по качеству модели.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526F762-DCEF-A72A-362A-E818DFEB4A80}"/>
              </a:ext>
            </a:extLst>
          </p:cNvPr>
          <p:cNvSpPr/>
          <p:nvPr/>
        </p:nvSpPr>
        <p:spPr>
          <a:xfrm>
            <a:off x="0" y="0"/>
            <a:ext cx="12192000" cy="1429966"/>
          </a:xfrm>
          <a:prstGeom prst="rect">
            <a:avLst/>
          </a:prstGeom>
          <a:gradFill flip="none" rotWithShape="1">
            <a:gsLst>
              <a:gs pos="32000">
                <a:schemeClr val="accent4">
                  <a:lumMod val="40000"/>
                  <a:lumOff val="60000"/>
                  <a:alpha val="0"/>
                </a:schemeClr>
              </a:gs>
              <a:gs pos="8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7D4FA79-A788-5FB3-17CF-5AC7527C56E6}"/>
              </a:ext>
            </a:extLst>
          </p:cNvPr>
          <p:cNvGrpSpPr/>
          <p:nvPr/>
        </p:nvGrpSpPr>
        <p:grpSpPr>
          <a:xfrm>
            <a:off x="8813260" y="4640094"/>
            <a:ext cx="3161489" cy="1974715"/>
            <a:chOff x="8813260" y="4640094"/>
            <a:chExt cx="3161489" cy="1974715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AC4767F-2C40-9615-E142-5ACE65C165D1}"/>
                </a:ext>
              </a:extLst>
            </p:cNvPr>
            <p:cNvSpPr/>
            <p:nvPr/>
          </p:nvSpPr>
          <p:spPr>
            <a:xfrm>
              <a:off x="8813260" y="4640094"/>
              <a:ext cx="3161489" cy="1974715"/>
            </a:xfrm>
            <a:prstGeom prst="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5826A2-BB2C-DD02-E2A0-A1CE8B957CEB}"/>
                </a:ext>
              </a:extLst>
            </p:cNvPr>
            <p:cNvSpPr txBox="1"/>
            <p:nvPr/>
          </p:nvSpPr>
          <p:spPr>
            <a:xfrm>
              <a:off x="9109953" y="4995629"/>
              <a:ext cx="256810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6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280.79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83AE2D-E51A-D0EA-66F1-CCD960BA02ED}"/>
                </a:ext>
              </a:extLst>
            </p:cNvPr>
            <p:cNvSpPr txBox="1"/>
            <p:nvPr/>
          </p:nvSpPr>
          <p:spPr>
            <a:xfrm>
              <a:off x="9338553" y="6176963"/>
              <a:ext cx="2188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результат на </a:t>
              </a:r>
              <a:r>
                <a:rPr lang="en-US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Kaggle</a:t>
              </a:r>
              <a:endPara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0570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FBCC7-FB04-4073-3D50-845DBBB80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85139-1018-F9A8-C287-F28C79838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Вторая сильная ветка (</a:t>
            </a:r>
            <a:r>
              <a:rPr lang="en-US" dirty="0"/>
              <a:t>CatBoost)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2E3B94-2A60-557F-59D2-425738002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072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Что сделали:</a:t>
            </a:r>
            <a:endParaRPr lang="ru-RU" sz="2200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sz="2200" dirty="0"/>
              <a:t>Отдельная модель для IC50, CC50 и SI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200" dirty="0"/>
              <a:t>Функция потерь: MAE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200" dirty="0"/>
              <a:t>Усреднение по разным начальным числам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200" dirty="0"/>
              <a:t>Отбор главных признаков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>
                <a:solidFill>
                  <a:srgbClr val="FF0000"/>
                </a:solidFill>
              </a:rPr>
              <a:t>Прямой прогноз SI оказался устойчивее,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>
                <a:solidFill>
                  <a:srgbClr val="FF0000"/>
                </a:solidFill>
              </a:rPr>
              <a:t>чем расчётный через IC50/CC50.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8725AF7-0CF4-4A98-6F2F-A9085D547ADE}"/>
              </a:ext>
            </a:extLst>
          </p:cNvPr>
          <p:cNvSpPr/>
          <p:nvPr/>
        </p:nvSpPr>
        <p:spPr>
          <a:xfrm>
            <a:off x="0" y="0"/>
            <a:ext cx="12192000" cy="1429966"/>
          </a:xfrm>
          <a:prstGeom prst="rect">
            <a:avLst/>
          </a:prstGeom>
          <a:gradFill flip="none" rotWithShape="1">
            <a:gsLst>
              <a:gs pos="32000">
                <a:schemeClr val="accent4">
                  <a:lumMod val="40000"/>
                  <a:lumOff val="60000"/>
                  <a:alpha val="0"/>
                </a:schemeClr>
              </a:gs>
              <a:gs pos="8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E81EBB6-A560-61CA-4212-5A1D80D9D1D8}"/>
              </a:ext>
            </a:extLst>
          </p:cNvPr>
          <p:cNvGrpSpPr/>
          <p:nvPr/>
        </p:nvGrpSpPr>
        <p:grpSpPr>
          <a:xfrm>
            <a:off x="8813260" y="4640094"/>
            <a:ext cx="3161489" cy="1974715"/>
            <a:chOff x="8813260" y="4640094"/>
            <a:chExt cx="3161489" cy="1974715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3076D17-3176-4327-BFA6-8270BAE2D18A}"/>
                </a:ext>
              </a:extLst>
            </p:cNvPr>
            <p:cNvSpPr/>
            <p:nvPr/>
          </p:nvSpPr>
          <p:spPr>
            <a:xfrm>
              <a:off x="8813260" y="4640094"/>
              <a:ext cx="3161489" cy="1974715"/>
            </a:xfrm>
            <a:prstGeom prst="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B9AF0E-EE69-27F6-5BEC-D7CE21628891}"/>
                </a:ext>
              </a:extLst>
            </p:cNvPr>
            <p:cNvSpPr txBox="1"/>
            <p:nvPr/>
          </p:nvSpPr>
          <p:spPr>
            <a:xfrm>
              <a:off x="9109953" y="4995629"/>
              <a:ext cx="256810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6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275.16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E8A5EF-3795-CCF0-7A29-BC10EF2208E8}"/>
                </a:ext>
              </a:extLst>
            </p:cNvPr>
            <p:cNvSpPr txBox="1"/>
            <p:nvPr/>
          </p:nvSpPr>
          <p:spPr>
            <a:xfrm>
              <a:off x="9338553" y="6176963"/>
              <a:ext cx="2188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результат на </a:t>
              </a:r>
              <a:r>
                <a:rPr lang="en-US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Kaggle</a:t>
              </a:r>
              <a:endPara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875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D21A3-F21E-E889-B7CF-D8DA163D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0B0F58-65A0-D2ED-49B0-89063658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Объединение двух веток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63CC-1C22-1AB7-A50F-9291B2B5D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sz="2200" b="1" dirty="0"/>
          </a:p>
          <a:p>
            <a:pPr marL="0" indent="0">
              <a:buNone/>
            </a:pPr>
            <a:r>
              <a:rPr lang="ru-RU" sz="2200" b="1" dirty="0"/>
              <a:t>Что сделали:</a:t>
            </a:r>
            <a:endParaRPr lang="ru-RU" sz="2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200" dirty="0"/>
              <a:t>IC50: 72.5% </a:t>
            </a:r>
            <a:r>
              <a:rPr lang="ru-RU" sz="2200" dirty="0"/>
              <a:t>гибрид + 27.5% </a:t>
            </a:r>
            <a:r>
              <a:rPr lang="en-US" sz="2200" dirty="0"/>
              <a:t>CatBoost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200" dirty="0"/>
              <a:t>CC50: 72.5% </a:t>
            </a:r>
            <a:r>
              <a:rPr lang="ru-RU" sz="2200" dirty="0"/>
              <a:t>гибрид + 27.5% </a:t>
            </a:r>
            <a:r>
              <a:rPr lang="en-US" sz="2200" dirty="0"/>
              <a:t>CatBoost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200" dirty="0"/>
              <a:t>SI: 100% CatBoost</a:t>
            </a:r>
          </a:p>
          <a:p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>
                <a:solidFill>
                  <a:srgbClr val="FF0000"/>
                </a:solidFill>
              </a:rPr>
              <a:t>Наиболее весомый относительный прирост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>
                <a:solidFill>
                  <a:srgbClr val="FF0000"/>
                </a:solidFill>
              </a:rPr>
              <a:t>был достигнут именно после блендинга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>
                <a:solidFill>
                  <a:srgbClr val="FF0000"/>
                </a:solidFill>
              </a:rPr>
              <a:t>разных веток пайплайна</a:t>
            </a:r>
            <a:endParaRPr lang="en-US" sz="26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67BB7D-CCD8-D4CC-B410-21CDA7231C10}"/>
              </a:ext>
            </a:extLst>
          </p:cNvPr>
          <p:cNvSpPr/>
          <p:nvPr/>
        </p:nvSpPr>
        <p:spPr>
          <a:xfrm>
            <a:off x="0" y="0"/>
            <a:ext cx="12192000" cy="1429966"/>
          </a:xfrm>
          <a:prstGeom prst="rect">
            <a:avLst/>
          </a:prstGeom>
          <a:gradFill flip="none" rotWithShape="1">
            <a:gsLst>
              <a:gs pos="32000">
                <a:schemeClr val="accent4">
                  <a:lumMod val="40000"/>
                  <a:lumOff val="60000"/>
                  <a:alpha val="0"/>
                </a:schemeClr>
              </a:gs>
              <a:gs pos="8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C5D74DD-9F86-38E6-E887-BC57A387BB70}"/>
              </a:ext>
            </a:extLst>
          </p:cNvPr>
          <p:cNvGrpSpPr/>
          <p:nvPr/>
        </p:nvGrpSpPr>
        <p:grpSpPr>
          <a:xfrm>
            <a:off x="8813260" y="4640094"/>
            <a:ext cx="3161489" cy="1974715"/>
            <a:chOff x="8813260" y="4640094"/>
            <a:chExt cx="3161489" cy="1974715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FC1C5419-9504-15F0-664E-5CB0117A6928}"/>
                </a:ext>
              </a:extLst>
            </p:cNvPr>
            <p:cNvSpPr/>
            <p:nvPr/>
          </p:nvSpPr>
          <p:spPr>
            <a:xfrm>
              <a:off x="8813260" y="4640094"/>
              <a:ext cx="3161489" cy="1974715"/>
            </a:xfrm>
            <a:prstGeom prst="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419EC8-3A37-0ED5-118E-1B15C886B285}"/>
                </a:ext>
              </a:extLst>
            </p:cNvPr>
            <p:cNvSpPr txBox="1"/>
            <p:nvPr/>
          </p:nvSpPr>
          <p:spPr>
            <a:xfrm>
              <a:off x="9109953" y="4995629"/>
              <a:ext cx="256810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6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265.68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1210B48-F262-77EA-7BDC-3CFF924B2043}"/>
                </a:ext>
              </a:extLst>
            </p:cNvPr>
            <p:cNvSpPr txBox="1"/>
            <p:nvPr/>
          </p:nvSpPr>
          <p:spPr>
            <a:xfrm>
              <a:off x="9338553" y="6176963"/>
              <a:ext cx="2188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результат на </a:t>
              </a:r>
              <a:r>
                <a:rPr lang="en-US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Kaggle</a:t>
              </a:r>
              <a:endPara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3920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FEB83-D0D4-8CF8-58CC-5AFF7538C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54DAB4-6DA0-9877-619C-AC309405D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Дополнительная обработка</a:t>
            </a:r>
            <a:br>
              <a:rPr lang="ru-RU" dirty="0"/>
            </a:br>
            <a:r>
              <a:rPr lang="ru-RU" sz="2800" dirty="0"/>
              <a:t>только для </a:t>
            </a:r>
            <a:r>
              <a:rPr lang="en-US" sz="2800" dirty="0"/>
              <a:t>IC50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7AC574-F570-EDA4-68FB-648B72FEC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Низкие значения IC50 (менее 50):</a:t>
            </a:r>
          </a:p>
          <a:p>
            <a:pPr marL="0" indent="0">
              <a:buNone/>
            </a:pPr>
            <a:r>
              <a:rPr lang="ru-RU" dirty="0"/>
              <a:t>сдвигаем в сторону предсказания CatBoost с весом 0.75</a:t>
            </a:r>
          </a:p>
          <a:p>
            <a:r>
              <a:rPr lang="ru-RU" dirty="0"/>
              <a:t>Высокие значения IC50 (300 и более):</a:t>
            </a:r>
          </a:p>
          <a:p>
            <a:pPr marL="0" indent="0">
              <a:buNone/>
            </a:pPr>
            <a:r>
              <a:rPr lang="en-US" dirty="0"/>
              <a:t>IC50 </a:t>
            </a:r>
            <a:r>
              <a:rPr lang="ru-RU" dirty="0"/>
              <a:t>умножаем на 1.10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>
                <a:solidFill>
                  <a:srgbClr val="FF0000"/>
                </a:solidFill>
              </a:rPr>
              <a:t>Обработка применялась не ко всем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>
                <a:solidFill>
                  <a:srgbClr val="FF0000"/>
                </a:solidFill>
              </a:rPr>
              <a:t>целевым показателям, а только там,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>
                <a:solidFill>
                  <a:srgbClr val="FF0000"/>
                </a:solidFill>
              </a:rPr>
              <a:t>где давала понятный и проверяемый эффект — для IC50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E1A6B46-614B-0797-6CC4-7F71CC8B45C9}"/>
              </a:ext>
            </a:extLst>
          </p:cNvPr>
          <p:cNvSpPr/>
          <p:nvPr/>
        </p:nvSpPr>
        <p:spPr>
          <a:xfrm>
            <a:off x="0" y="0"/>
            <a:ext cx="12192000" cy="1429966"/>
          </a:xfrm>
          <a:prstGeom prst="rect">
            <a:avLst/>
          </a:prstGeom>
          <a:gradFill flip="none" rotWithShape="1">
            <a:gsLst>
              <a:gs pos="32000">
                <a:schemeClr val="accent4">
                  <a:lumMod val="40000"/>
                  <a:lumOff val="60000"/>
                  <a:alpha val="0"/>
                </a:schemeClr>
              </a:gs>
              <a:gs pos="8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8" name="Picture 6" descr="Picture background">
            <a:extLst>
              <a:ext uri="{FF2B5EF4-FFF2-40B4-BE49-F238E27FC236}">
                <a16:creationId xmlns:a16="http://schemas.microsoft.com/office/drawing/2014/main" id="{BA381BA9-C376-5B91-E75D-5A60887F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075" y="3835401"/>
            <a:ext cx="257175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923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1AE8-80F8-6522-6AE9-622D6F81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A8FEFD-6C1B-9333-4A5B-E6C029D52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Итоговый результат</a:t>
            </a:r>
            <a:br>
              <a:rPr lang="ru-RU" dirty="0"/>
            </a:br>
            <a:endParaRPr lang="ru-RU" sz="28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DEC9AEB-D9D5-C7F7-9210-383500B65830}"/>
              </a:ext>
            </a:extLst>
          </p:cNvPr>
          <p:cNvSpPr/>
          <p:nvPr/>
        </p:nvSpPr>
        <p:spPr>
          <a:xfrm>
            <a:off x="0" y="0"/>
            <a:ext cx="12192000" cy="1429966"/>
          </a:xfrm>
          <a:prstGeom prst="rect">
            <a:avLst/>
          </a:prstGeom>
          <a:gradFill flip="none" rotWithShape="1">
            <a:gsLst>
              <a:gs pos="32000">
                <a:schemeClr val="accent4">
                  <a:lumMod val="40000"/>
                  <a:lumOff val="60000"/>
                  <a:alpha val="0"/>
                </a:schemeClr>
              </a:gs>
              <a:gs pos="8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5714439-0841-464D-4B05-928313A771D2}"/>
              </a:ext>
            </a:extLst>
          </p:cNvPr>
          <p:cNvGrpSpPr/>
          <p:nvPr/>
        </p:nvGrpSpPr>
        <p:grpSpPr>
          <a:xfrm>
            <a:off x="8813260" y="4640094"/>
            <a:ext cx="3161489" cy="1974715"/>
            <a:chOff x="8813260" y="4640094"/>
            <a:chExt cx="3161489" cy="1974715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CA1C1A0D-FFBC-55B0-2817-C5DDBE88353D}"/>
                </a:ext>
              </a:extLst>
            </p:cNvPr>
            <p:cNvSpPr/>
            <p:nvPr/>
          </p:nvSpPr>
          <p:spPr>
            <a:xfrm>
              <a:off x="8813260" y="4640094"/>
              <a:ext cx="3161489" cy="1974715"/>
            </a:xfrm>
            <a:prstGeom prst="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AF4049C-5F59-D20B-B389-774D9CC2A3E8}"/>
                </a:ext>
              </a:extLst>
            </p:cNvPr>
            <p:cNvSpPr txBox="1"/>
            <p:nvPr/>
          </p:nvSpPr>
          <p:spPr>
            <a:xfrm>
              <a:off x="9109953" y="4995629"/>
              <a:ext cx="256810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6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263.61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586EDD-7007-D3D9-6F5E-395F62638621}"/>
                </a:ext>
              </a:extLst>
            </p:cNvPr>
            <p:cNvSpPr txBox="1"/>
            <p:nvPr/>
          </p:nvSpPr>
          <p:spPr>
            <a:xfrm>
              <a:off x="9338553" y="6176963"/>
              <a:ext cx="21887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результат на </a:t>
              </a:r>
              <a:r>
                <a:rPr lang="en-US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Kaggle</a:t>
              </a:r>
              <a:endPara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9" name="Объект 2">
            <a:extLst>
              <a:ext uri="{FF2B5EF4-FFF2-40B4-BE49-F238E27FC236}">
                <a16:creationId xmlns:a16="http://schemas.microsoft.com/office/drawing/2014/main" id="{CC2D00B2-F455-3D9D-1C60-AB3FC589459C}"/>
              </a:ext>
            </a:extLst>
          </p:cNvPr>
          <p:cNvSpPr txBox="1">
            <a:spLocks/>
          </p:cNvSpPr>
          <p:nvPr/>
        </p:nvSpPr>
        <p:spPr>
          <a:xfrm>
            <a:off x="838200" y="19018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b="1" dirty="0"/>
              <a:t>Что сделали:</a:t>
            </a:r>
            <a:endParaRPr lang="en-US" sz="22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sz="2200" dirty="0"/>
              <a:t>Смешение сильных веток</a:t>
            </a:r>
            <a:r>
              <a:rPr lang="en-US" sz="2200" dirty="0"/>
              <a:t> (CatBoost MAE </a:t>
            </a:r>
            <a:r>
              <a:rPr lang="ru-RU" sz="2200" dirty="0"/>
              <a:t>и </a:t>
            </a:r>
            <a:r>
              <a:rPr lang="en-US" sz="2200" dirty="0"/>
              <a:t>Hybrid-best)</a:t>
            </a:r>
          </a:p>
          <a:p>
            <a:pPr marL="0" indent="0">
              <a:buNone/>
            </a:pPr>
            <a:r>
              <a:rPr lang="en-US" sz="2200" dirty="0"/>
              <a:t>	IC50: 72.5% </a:t>
            </a:r>
            <a:r>
              <a:rPr lang="ru-RU" sz="2200" dirty="0"/>
              <a:t>гибрид + 27.5% </a:t>
            </a:r>
            <a:r>
              <a:rPr lang="en-US" sz="2200" dirty="0"/>
              <a:t>CatBoost</a:t>
            </a:r>
          </a:p>
          <a:p>
            <a:pPr marL="0" indent="0">
              <a:buNone/>
            </a:pPr>
            <a:r>
              <a:rPr lang="en-US" sz="2200" dirty="0"/>
              <a:t>	CC50: 72.5% </a:t>
            </a:r>
            <a:r>
              <a:rPr lang="ru-RU" sz="2200" dirty="0"/>
              <a:t>гибрид + 27.5% </a:t>
            </a:r>
            <a:r>
              <a:rPr lang="en-US" sz="2200" dirty="0"/>
              <a:t>CatBoost</a:t>
            </a:r>
          </a:p>
          <a:p>
            <a:pPr marL="0" indent="0">
              <a:buNone/>
            </a:pPr>
            <a:r>
              <a:rPr lang="en-US" sz="2200" dirty="0"/>
              <a:t>	SI: 100% CatBoost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200" dirty="0"/>
              <a:t>Дополнительная обработка </a:t>
            </a:r>
            <a:r>
              <a:rPr lang="en-US" sz="2200" dirty="0"/>
              <a:t>IC50</a:t>
            </a:r>
            <a:r>
              <a:rPr lang="ru-RU" sz="2200" dirty="0"/>
              <a:t>  </a:t>
            </a:r>
            <a:endParaRPr lang="en-US" sz="1800" dirty="0"/>
          </a:p>
          <a:p>
            <a:pPr marL="0" indent="0">
              <a:buNone/>
            </a:pPr>
            <a:r>
              <a:rPr lang="en-US" sz="2200" dirty="0"/>
              <a:t>	IC50 &lt; 50: </a:t>
            </a:r>
            <a:r>
              <a:rPr lang="ru-RU" sz="2200" dirty="0"/>
              <a:t>сдвиг к </a:t>
            </a:r>
            <a:r>
              <a:rPr lang="en-US" sz="2200" dirty="0"/>
              <a:t>CatBoost c </a:t>
            </a:r>
            <a:r>
              <a:rPr lang="ru-RU" sz="2200" dirty="0"/>
              <a:t>коэффициентом 0.75</a:t>
            </a:r>
          </a:p>
          <a:p>
            <a:pPr marL="0" indent="0">
              <a:buNone/>
            </a:pPr>
            <a:r>
              <a:rPr lang="en-US" sz="2200" dirty="0"/>
              <a:t>	IC50 ≥ 300: </a:t>
            </a:r>
            <a:r>
              <a:rPr lang="ru-RU" sz="2200" dirty="0"/>
              <a:t>умножаем на 1.10</a:t>
            </a:r>
          </a:p>
          <a:p>
            <a:pPr marL="0" indent="0">
              <a:buNone/>
            </a:pPr>
            <a:r>
              <a:rPr lang="ru-RU" sz="2200" dirty="0"/>
              <a:t>	</a:t>
            </a:r>
            <a:r>
              <a:rPr lang="en-US" sz="2200" dirty="0"/>
              <a:t>CC50 </a:t>
            </a:r>
            <a:r>
              <a:rPr lang="ru-RU" sz="2200" dirty="0"/>
              <a:t>и </a:t>
            </a:r>
            <a:r>
              <a:rPr lang="en-US" sz="2200" dirty="0"/>
              <a:t>SI </a:t>
            </a:r>
            <a:r>
              <a:rPr lang="ru-RU" sz="2200" dirty="0"/>
              <a:t>не трогаем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30632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A1DBE-8E85-B694-DAFF-7564E70A5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818D77-880E-692E-2711-C97FACCE7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варианты провели в ходе работы</a:t>
            </a:r>
            <a:br>
              <a:rPr lang="ru-RU" dirty="0"/>
            </a:br>
            <a:r>
              <a:rPr lang="ru-RU" sz="2800" dirty="0"/>
              <a:t>но не включали в финальное решение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1C0C4E-23AD-DFD7-880A-AB9C95262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3325"/>
            <a:ext cx="10515600" cy="2689225"/>
          </a:xfrm>
        </p:spPr>
        <p:txBody>
          <a:bodyPr>
            <a:normAutofit/>
          </a:bodyPr>
          <a:lstStyle/>
          <a:p>
            <a:r>
              <a:rPr lang="ru-RU" dirty="0"/>
              <a:t>Коррекция по совпадающим векторам признаков</a:t>
            </a:r>
          </a:p>
          <a:p>
            <a:r>
              <a:rPr lang="ru-RU" dirty="0"/>
              <a:t>Преобразования целевых переменных</a:t>
            </a:r>
          </a:p>
          <a:p>
            <a:r>
              <a:rPr lang="ru-RU" dirty="0"/>
              <a:t>Ridge, PLS</a:t>
            </a:r>
          </a:p>
          <a:p>
            <a:r>
              <a:rPr lang="ru-RU" dirty="0"/>
              <a:t>Расчётный SI через формулу</a:t>
            </a:r>
          </a:p>
          <a:p>
            <a:r>
              <a:rPr lang="ru-RU" dirty="0"/>
              <a:t>Коррекция остатков для SI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8BDE10-993C-D605-900D-D7DB6B27698F}"/>
              </a:ext>
            </a:extLst>
          </p:cNvPr>
          <p:cNvSpPr/>
          <p:nvPr/>
        </p:nvSpPr>
        <p:spPr>
          <a:xfrm>
            <a:off x="0" y="0"/>
            <a:ext cx="12192000" cy="1429966"/>
          </a:xfrm>
          <a:prstGeom prst="rect">
            <a:avLst/>
          </a:prstGeom>
          <a:gradFill flip="none" rotWithShape="1">
            <a:gsLst>
              <a:gs pos="32000">
                <a:schemeClr val="accent4">
                  <a:lumMod val="40000"/>
                  <a:lumOff val="60000"/>
                  <a:alpha val="0"/>
                </a:schemeClr>
              </a:gs>
              <a:gs pos="8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2B5E4EA6-A84E-5577-2040-7B7DDBDE0A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27" r="18158"/>
          <a:stretch>
            <a:fillRect/>
          </a:stretch>
        </p:blipFill>
        <p:spPr bwMode="auto">
          <a:xfrm>
            <a:off x="9048750" y="3803650"/>
            <a:ext cx="2808746" cy="268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789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EA043-7312-9F70-B9BD-B17673B6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EAA59-37D3-B655-EFEA-A550046E3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Хронология результатов</a:t>
            </a:r>
            <a:br>
              <a:rPr lang="ru-RU" dirty="0"/>
            </a:b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681F4C-8E9B-DAAA-26C3-F585A5499840}"/>
              </a:ext>
            </a:extLst>
          </p:cNvPr>
          <p:cNvSpPr/>
          <p:nvPr/>
        </p:nvSpPr>
        <p:spPr>
          <a:xfrm>
            <a:off x="0" y="0"/>
            <a:ext cx="12192000" cy="1429966"/>
          </a:xfrm>
          <a:prstGeom prst="rect">
            <a:avLst/>
          </a:prstGeom>
          <a:gradFill flip="none" rotWithShape="1">
            <a:gsLst>
              <a:gs pos="32000">
                <a:schemeClr val="accent4">
                  <a:lumMod val="40000"/>
                  <a:lumOff val="60000"/>
                  <a:alpha val="0"/>
                </a:schemeClr>
              </a:gs>
              <a:gs pos="8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A2689A5-090D-646D-1311-178B256D55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4" t="2668" r="945" b="4424"/>
          <a:stretch>
            <a:fillRect/>
          </a:stretch>
        </p:blipFill>
        <p:spPr>
          <a:xfrm>
            <a:off x="882650" y="1429966"/>
            <a:ext cx="10595989" cy="490274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628737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1B8F7-BFA6-CCC7-9E11-A8C4030BC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D7761-CB58-FA61-DC2C-2CAADF364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выводы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7570C38-6AA1-587A-4E80-4C08802EF341}"/>
              </a:ext>
            </a:extLst>
          </p:cNvPr>
          <p:cNvSpPr/>
          <p:nvPr/>
        </p:nvSpPr>
        <p:spPr>
          <a:xfrm>
            <a:off x="0" y="0"/>
            <a:ext cx="12192000" cy="1429966"/>
          </a:xfrm>
          <a:prstGeom prst="rect">
            <a:avLst/>
          </a:prstGeom>
          <a:gradFill flip="none" rotWithShape="1">
            <a:gsLst>
              <a:gs pos="32000">
                <a:schemeClr val="accent4">
                  <a:lumMod val="40000"/>
                  <a:lumOff val="60000"/>
                  <a:alpha val="0"/>
                </a:schemeClr>
              </a:gs>
              <a:gs pos="86000">
                <a:schemeClr val="accent4">
                  <a:lumMod val="95000"/>
                  <a:lumOff val="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8797E91E-2A9C-F36A-324C-E8C1DBF8B0F9}"/>
              </a:ext>
            </a:extLst>
          </p:cNvPr>
          <p:cNvGrpSpPr/>
          <p:nvPr/>
        </p:nvGrpSpPr>
        <p:grpSpPr>
          <a:xfrm>
            <a:off x="1457324" y="1838325"/>
            <a:ext cx="2905200" cy="2880000"/>
            <a:chOff x="1457324" y="1838325"/>
            <a:chExt cx="2905200" cy="2880000"/>
          </a:xfrm>
        </p:grpSpPr>
        <p:sp>
          <p:nvSpPr>
            <p:cNvPr id="7" name="Блок-схема: узел 6">
              <a:extLst>
                <a:ext uri="{FF2B5EF4-FFF2-40B4-BE49-F238E27FC236}">
                  <a16:creationId xmlns:a16="http://schemas.microsoft.com/office/drawing/2014/main" id="{45E7F384-491B-3A19-C023-F492DD6B28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57324" y="1838325"/>
              <a:ext cx="2905200" cy="2880000"/>
            </a:xfrm>
            <a:prstGeom prst="flowChartConnector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72D436-92DF-BAA2-798C-7A17654278BE}"/>
                </a:ext>
              </a:extLst>
            </p:cNvPr>
            <p:cNvSpPr txBox="1"/>
            <p:nvPr/>
          </p:nvSpPr>
          <p:spPr>
            <a:xfrm>
              <a:off x="1838361" y="2428875"/>
              <a:ext cx="21431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SI – </a:t>
              </a:r>
              <a:r>
                <a:rPr lang="ru-RU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самый сложный показатель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06087E-36CC-4FBD-FF14-7BB5F0DD5182}"/>
                </a:ext>
              </a:extLst>
            </p:cNvPr>
            <p:cNvSpPr txBox="1"/>
            <p:nvPr/>
          </p:nvSpPr>
          <p:spPr>
            <a:xfrm>
              <a:off x="1838361" y="3181350"/>
              <a:ext cx="214312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даже точная формульная связь в обучении не гарантирует стабильности прогноза</a:t>
              </a:r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C1BFD2B8-AD69-E28E-BC8D-1DC1007CCE9E}"/>
              </a:ext>
            </a:extLst>
          </p:cNvPr>
          <p:cNvGrpSpPr/>
          <p:nvPr/>
        </p:nvGrpSpPr>
        <p:grpSpPr>
          <a:xfrm>
            <a:off x="3405243" y="3181350"/>
            <a:ext cx="2905200" cy="2880000"/>
            <a:chOff x="3100443" y="3612875"/>
            <a:chExt cx="2905200" cy="2880000"/>
          </a:xfrm>
        </p:grpSpPr>
        <p:sp>
          <p:nvSpPr>
            <p:cNvPr id="10" name="Блок-схема: узел 9">
              <a:extLst>
                <a:ext uri="{FF2B5EF4-FFF2-40B4-BE49-F238E27FC236}">
                  <a16:creationId xmlns:a16="http://schemas.microsoft.com/office/drawing/2014/main" id="{1D128262-C4B3-8C51-4E10-171F880123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00443" y="3612875"/>
              <a:ext cx="2905200" cy="2880000"/>
            </a:xfrm>
            <a:prstGeom prst="flowChartConnector">
              <a:avLst/>
            </a:prstGeom>
            <a:solidFill>
              <a:schemeClr val="accent5">
                <a:lumMod val="20000"/>
                <a:lumOff val="80000"/>
                <a:alpha val="20000"/>
              </a:schemeClr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B1BC662-074C-ECF9-2F15-7489A675281B}"/>
                </a:ext>
              </a:extLst>
            </p:cNvPr>
            <p:cNvSpPr txBox="1"/>
            <p:nvPr/>
          </p:nvSpPr>
          <p:spPr>
            <a:xfrm>
              <a:off x="3481481" y="4256660"/>
              <a:ext cx="21431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Лучший результат — комбинация разных подходов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C1E683-5517-75AA-E5CB-6BA7C6D8F332}"/>
                </a:ext>
              </a:extLst>
            </p:cNvPr>
            <p:cNvSpPr txBox="1"/>
            <p:nvPr/>
          </p:nvSpPr>
          <p:spPr>
            <a:xfrm>
              <a:off x="3481481" y="5300555"/>
              <a:ext cx="21431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CatBoost + </a:t>
              </a:r>
              <a:r>
                <a:rPr lang="ru-RU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гибрид + точечная коррекция</a:t>
              </a:r>
              <a:r>
                <a:rPr lang="en-U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endParaRPr lang="ru-RU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4B998A49-AE7F-C6DB-B6F2-9070E7A95C3E}"/>
              </a:ext>
            </a:extLst>
          </p:cNvPr>
          <p:cNvGrpSpPr/>
          <p:nvPr/>
        </p:nvGrpSpPr>
        <p:grpSpPr>
          <a:xfrm>
            <a:off x="5710293" y="2250640"/>
            <a:ext cx="2905200" cy="2880000"/>
            <a:chOff x="3100443" y="3612875"/>
            <a:chExt cx="2905200" cy="2880000"/>
          </a:xfrm>
        </p:grpSpPr>
        <p:sp>
          <p:nvSpPr>
            <p:cNvPr id="21" name="Блок-схема: узел 20">
              <a:extLst>
                <a:ext uri="{FF2B5EF4-FFF2-40B4-BE49-F238E27FC236}">
                  <a16:creationId xmlns:a16="http://schemas.microsoft.com/office/drawing/2014/main" id="{E6383DAD-59F3-02FF-AB8B-DEC0D355F8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00443" y="3612875"/>
              <a:ext cx="2905200" cy="2880000"/>
            </a:xfrm>
            <a:prstGeom prst="flowChartConnector">
              <a:avLst/>
            </a:prstGeom>
            <a:solidFill>
              <a:schemeClr val="accent4">
                <a:lumMod val="40000"/>
                <a:lumOff val="60000"/>
                <a:alpha val="20000"/>
              </a:schemeClr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065CED-D971-CFEF-F496-7EEFADCE24D0}"/>
                </a:ext>
              </a:extLst>
            </p:cNvPr>
            <p:cNvSpPr txBox="1"/>
            <p:nvPr/>
          </p:nvSpPr>
          <p:spPr>
            <a:xfrm>
              <a:off x="3505387" y="3996368"/>
              <a:ext cx="2143125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Дополнительная коррекция эффективна, только если применять её целенаправленно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1D581C-B346-4006-A12C-F5F0848B38EA}"/>
                </a:ext>
              </a:extLst>
            </p:cNvPr>
            <p:cNvSpPr txBox="1"/>
            <p:nvPr/>
          </p:nvSpPr>
          <p:spPr>
            <a:xfrm>
              <a:off x="3486150" y="5631273"/>
              <a:ext cx="21431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только для </a:t>
              </a:r>
              <a:r>
                <a:rPr lang="en-U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IC50</a:t>
              </a:r>
              <a:endParaRPr lang="ru-RU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88C17242-2026-2C6D-A935-AA20A915AF14}"/>
              </a:ext>
            </a:extLst>
          </p:cNvPr>
          <p:cNvGrpSpPr/>
          <p:nvPr/>
        </p:nvGrpSpPr>
        <p:grpSpPr>
          <a:xfrm>
            <a:off x="8148525" y="1231461"/>
            <a:ext cx="2905200" cy="2880000"/>
            <a:chOff x="3100443" y="3612875"/>
            <a:chExt cx="2905200" cy="2880000"/>
          </a:xfrm>
        </p:grpSpPr>
        <p:sp>
          <p:nvSpPr>
            <p:cNvPr id="25" name="Блок-схема: узел 24">
              <a:extLst>
                <a:ext uri="{FF2B5EF4-FFF2-40B4-BE49-F238E27FC236}">
                  <a16:creationId xmlns:a16="http://schemas.microsoft.com/office/drawing/2014/main" id="{B1A6CD7A-DA5C-DB12-0385-0354ADE0F8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00443" y="3612875"/>
              <a:ext cx="2905200" cy="2880000"/>
            </a:xfrm>
            <a:prstGeom prst="flowChartConnector">
              <a:avLst/>
            </a:prstGeom>
            <a:solidFill>
              <a:schemeClr val="bg2">
                <a:lumMod val="90000"/>
                <a:alpha val="20000"/>
              </a:schemeClr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E4F624D-598B-E328-F702-8B919CE70FE8}"/>
                </a:ext>
              </a:extLst>
            </p:cNvPr>
            <p:cNvSpPr txBox="1"/>
            <p:nvPr/>
          </p:nvSpPr>
          <p:spPr>
            <a:xfrm>
              <a:off x="3481480" y="4176505"/>
              <a:ext cx="214312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Локальная проверка — фильтр идей</a:t>
              </a:r>
            </a:p>
            <a:p>
              <a:pPr algn="ctr"/>
              <a:r>
                <a:rPr lang="ru-RU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она помогает отсекать слабые решения, но не идеально предсказывает лидерборд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41824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308</TotalTime>
  <Words>672</Words>
  <Application>Microsoft Office PowerPoint</Application>
  <PresentationFormat>Широкоэкранный</PresentationFormat>
  <Paragraphs>146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Cambria Math</vt:lpstr>
      <vt:lpstr>Wingdings</vt:lpstr>
      <vt:lpstr>Тема Office</vt:lpstr>
      <vt:lpstr>Презентация PowerPoint</vt:lpstr>
      <vt:lpstr>Задача проекта</vt:lpstr>
      <vt:lpstr>Исходные данные и метрики соревнования</vt:lpstr>
      <vt:lpstr>Первичный аудит данных</vt:lpstr>
      <vt:lpstr>Локальная валидация данных</vt:lpstr>
      <vt:lpstr>Базовое моделирование</vt:lpstr>
      <vt:lpstr>Первая сильная ветка (Hybrid-best)</vt:lpstr>
      <vt:lpstr>Вторая сильная ветка (CatBoost)</vt:lpstr>
      <vt:lpstr>Объединение двух веток</vt:lpstr>
      <vt:lpstr>Дополнительная обработка только для IC50</vt:lpstr>
      <vt:lpstr>Итоговый результат </vt:lpstr>
      <vt:lpstr>Какие варианты провели в ходе работы но не включали в финальное решение</vt:lpstr>
      <vt:lpstr>Хронология результатов </vt:lpstr>
      <vt:lpstr>Основные 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 Ovsyannikov</dc:creator>
  <cp:lastModifiedBy>Sergey Ovsyannikov</cp:lastModifiedBy>
  <cp:revision>12</cp:revision>
  <dcterms:created xsi:type="dcterms:W3CDTF">2026-05-25T10:37:35Z</dcterms:created>
  <dcterms:modified xsi:type="dcterms:W3CDTF">2026-05-27T06:45:49Z</dcterms:modified>
</cp:coreProperties>
</file>